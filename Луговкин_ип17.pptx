
<file path=[Content_Types].xml><?xml version="1.0" encoding="utf-8"?>
<Types xmlns="http://schemas.openxmlformats.org/package/2006/content-types">
  <Default ContentType="image/svg+xml" Extension="svg"/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tableStyles.xml" Type="http://schemas.openxmlformats.org/officeDocument/2006/relationships/tableStyles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media/2.png" Type="http://schemas.openxmlformats.org/officeDocument/2006/relationships/image"/>
  <Relationship Id="rId3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Slide master 1">
    <p:spTree>
      <p:nvGrpSpPr>
        <p:cNvPr hidden="false" id="2" name="GroupShape 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pic>
        <p:nvPicPr>
          <p:cNvPr hidden="false" id="4" name="Picture 4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</p:spPr>
      </p:pic>
      <p:sp>
        <p:nvSpPr>
          <p:cNvPr hidden="false" id="5" name="Shape 5"/>
          <p:cNvSpPr txBox="false"/>
          <p:nvPr isPhoto="false"/>
        </p:nvSpPr>
        <p:spPr>
          <a:xfrm flipH="false" flipV="false" rot="0">
            <a:off x="0" y="0"/>
            <a:ext cx="9144000" cy="5143500"/>
          </a:xfrm>
          <a:prstGeom prst="rect">
            <a:avLst/>
          </a:prstGeom>
          <a:solidFill>
            <a:srgbClr val="252222">
              <a:alpha val="95000"/>
            </a:srgbClr>
          </a:solidFill>
          <a:ln>
            <a:prstDash val="solid"/>
          </a:ln>
        </p:spPr>
      </p:sp>
      <p:pic>
        <p:nvPicPr>
          <p:cNvPr hidden="false" id="7" name="Picture 7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8029179" y="4844491"/>
            <a:ext cx="1071843" cy="256032"/>
          </a:xfrm>
          <a:prstGeom prst="rect">
            <a:avLst/>
          </a:prstGeom>
        </p:spPr>
      </p:pic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DEFAULT">
    <p:bg>
      <p:bgRef idx="1001">
        <a:schemeClr val="bg1"/>
      </p:bgRef>
    </p:bg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media/3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6" Target="../media/9.png" Type="http://schemas.openxmlformats.org/officeDocument/2006/relationships/image"/>
  <Relationship Id="rId1" Target="../media/4.svg" Type="http://schemas.openxmlformats.org/officeDocument/2006/relationships/image"/>
  <Relationship Id="rId2" Target="../media/5.svg" Type="http://schemas.openxmlformats.org/officeDocument/2006/relationships/image"/>
  <Relationship Id="rId3" Target="../media/6.svg" Type="http://schemas.openxmlformats.org/officeDocument/2006/relationships/image"/>
  <Relationship Id="rId8" Target="../slideLayouts/slideLayout1.xml" Type="http://schemas.openxmlformats.org/officeDocument/2006/relationships/slideLayout"/>
  <Relationship Id="rId4" Target="../media/7.svg" Type="http://schemas.openxmlformats.org/officeDocument/2006/relationships/image"/>
  <Relationship Id="rId7" Target="../media/10.png" Type="http://schemas.openxmlformats.org/officeDocument/2006/relationships/image"/>
  <Relationship Id="rId5" Target="../media/8.png" Type="http://schemas.openxmlformats.org/officeDocument/2006/relationships/image"/>
</Relationships>

</file>

<file path=ppt/slides/_rels/slide4.xml.rels><?xml version="1.0" encoding="UTF-8" standalone="no" ?>
<Relationships xmlns="http://schemas.openxmlformats.org/package/2006/relationships">
  <Relationship Id="rId1" Target="../media/11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media/12.png" Type="http://schemas.openxmlformats.org/officeDocument/2006/relationships/image"/>
  <Relationship Id="rId2" Target="../media/13.svg" Type="http://schemas.openxmlformats.org/officeDocument/2006/relationships/image"/>
  <Relationship Id="rId3" Target="../media/14.svg" Type="http://schemas.openxmlformats.org/officeDocument/2006/relationships/image"/>
  <Relationship Id="rId4" Target="../media/15.svg" Type="http://schemas.openxmlformats.org/officeDocument/2006/relationships/image"/>
  <Relationship Id="rId5" Target="../slideLayouts/slideLayout1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6" Target="../media/21.svg" Type="http://schemas.openxmlformats.org/officeDocument/2006/relationships/image"/>
  <Relationship Id="rId1" Target="../media/16.png" Type="http://schemas.openxmlformats.org/officeDocument/2006/relationships/image"/>
  <Relationship Id="rId2" Target="../media/17.svg" Type="http://schemas.openxmlformats.org/officeDocument/2006/relationships/image"/>
  <Relationship Id="rId3" Target="../media/18.svg" Type="http://schemas.openxmlformats.org/officeDocument/2006/relationships/image"/>
  <Relationship Id="rId4" Target="../media/19.svg" Type="http://schemas.openxmlformats.org/officeDocument/2006/relationships/image"/>
  <Relationship Id="rId7" Target="../slideLayouts/slideLayout1.xml" Type="http://schemas.openxmlformats.org/officeDocument/2006/relationships/slideLayout"/>
  <Relationship Id="rId5" Target="../media/20.svg" Type="http://schemas.openxmlformats.org/officeDocument/2006/relationships/image"/>
</Relationships>

</file>

<file path=ppt/slides/_rels/slide7.xml.rels><?xml version="1.0" encoding="UTF-8" standalone="no" ?>
<Relationships xmlns="http://schemas.openxmlformats.org/package/2006/relationships">
  <Relationship Id="rId1" Target="../media/22.svg" Type="http://schemas.openxmlformats.org/officeDocument/2006/relationships/image"/>
  <Relationship Id="rId2" Target="../media/23.svg" Type="http://schemas.openxmlformats.org/officeDocument/2006/relationships/image"/>
  <Relationship Id="rId3" Target="../media/24.svg" Type="http://schemas.openxmlformats.org/officeDocument/2006/relationships/image"/>
  <Relationship Id="rId4" Target="../media/25.svg" Type="http://schemas.openxmlformats.org/officeDocument/2006/relationships/image"/>
  <Relationship Id="rId5" Target="../slideLayouts/slideLayout1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26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" name="GroupShape 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" name="Shape 10"/>
          <p:cNvSpPr txBox="false"/>
          <p:nvPr isPhoto="false"/>
        </p:nvSpPr>
        <p:spPr>
          <a:xfrm flipH="false" flipV="false" rot="0">
            <a:off x="0" y="0"/>
            <a:ext cx="3429000" cy="5143500"/>
          </a:xfrm>
          <a:prstGeom prst="rect">
            <a:avLst/>
          </a:prstGeom>
          <a:solidFill>
            <a:srgbClr val="7E023C"/>
          </a:solidFill>
          <a:ln>
            <a:prstDash val="solid"/>
          </a:ln>
        </p:spPr>
      </p:sp>
      <p:pic>
        <p:nvPicPr>
          <p:cNvPr hidden="false" id="12" name="Picture 12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4786" y="112142"/>
            <a:ext cx="3279428" cy="4919142"/>
          </a:xfrm>
          <a:prstGeom prst="rect">
            <a:avLst/>
          </a:prstGeom>
        </p:spPr>
      </p:pic>
      <p:sp>
        <p:nvSpPr>
          <p:cNvPr hidden="false" id="13" name="Shape 13"/>
          <p:cNvSpPr txBox="false"/>
          <p:nvPr isPhoto="false"/>
        </p:nvSpPr>
        <p:spPr>
          <a:xfrm flipH="false" flipV="false" rot="0">
            <a:off x="3952577" y="1230362"/>
            <a:ext cx="4667845" cy="1760041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27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Система мониторинга повторных обращений граждан по цифровым вопросам</a:t>
            </a:r>
            <a:endParaRPr sz="27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" name="Shape 14"/>
          <p:cNvSpPr txBox="false"/>
          <p:nvPr isPhoto="false"/>
        </p:nvSpPr>
        <p:spPr>
          <a:xfrm flipH="false" flipV="false" rot="0">
            <a:off x="3952577" y="3214762"/>
            <a:ext cx="5125045" cy="23939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Веб-приложение для учёта и анализа обращений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" name="Shape 15"/>
          <p:cNvSpPr txBox="false"/>
          <p:nvPr isPhoto="false"/>
        </p:nvSpPr>
        <p:spPr>
          <a:xfrm flipH="false" flipV="false" rot="0">
            <a:off x="3952577" y="3622402"/>
            <a:ext cx="2751310" cy="290660"/>
          </a:xfrm>
          <a:prstGeom prst="roundRect">
            <a:avLst>
              <a:gd fmla="val 17295" name="adj"/>
            </a:avLst>
          </a:prstGeom>
          <a:noFill/>
          <a:ln w="4763">
            <a:solidFill>
              <a:srgbClr val="F20374"/>
            </a:solidFill>
            <a:prstDash val="solid"/>
          </a:ln>
        </p:spPr>
      </p:sp>
      <p:sp>
        <p:nvSpPr>
          <p:cNvPr hidden="false" id="16" name="Shape 16"/>
          <p:cNvSpPr txBox="false"/>
          <p:nvPr isPhoto="false"/>
        </p:nvSpPr>
        <p:spPr>
          <a:xfrm flipH="false" flipV="false" rot="0">
            <a:off x="4047082" y="3672036"/>
            <a:ext cx="3019499" cy="19139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3000"/>
              </a:lnSpc>
            </a:pPr>
            <a:r>
              <a:rPr sz="900">
                <a:solidFill>
                  <a:srgbClr val="F20374"/>
                </a:solidFill>
                <a:latin typeface="Overpass"/>
                <a:ea typeface="Overpass"/>
                <a:cs typeface="Overpass"/>
              </a:rPr>
              <a:t>ЛУГОВКИН КОНСТАНТИН · ГРУППА 1ИП-17-25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false"/>
          <p:nvPr isPhoto="false"/>
        </p:nvSpPr>
        <p:spPr>
          <a:xfrm flipH="false" flipV="false" rot="0">
            <a:off x="624855" y="366340"/>
            <a:ext cx="912167" cy="213940"/>
          </a:xfrm>
          <a:prstGeom prst="roundRect">
            <a:avLst>
              <a:gd fmla="val 19092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19" name="Shape 19"/>
          <p:cNvSpPr txBox="false"/>
          <p:nvPr isPhoto="false"/>
        </p:nvSpPr>
        <p:spPr>
          <a:xfrm flipH="false" flipV="false" rot="0">
            <a:off x="697781" y="402803"/>
            <a:ext cx="1223516" cy="14101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1000"/>
              </a:lnSpc>
            </a:pPr>
            <a:r>
              <a:rPr sz="7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АКТУАЛЬНОСТЬ</a:t>
            </a:r>
            <a:endParaRPr sz="7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" name="Shape 20"/>
          <p:cNvSpPr txBox="false"/>
          <p:nvPr isPhoto="false"/>
        </p:nvSpPr>
        <p:spPr>
          <a:xfrm flipH="false" flipV="false" rot="0">
            <a:off x="624855" y="619720"/>
            <a:ext cx="4026619" cy="35756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22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Проблема, цель и задачи</a:t>
            </a:r>
            <a:endParaRPr sz="2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" name="Shape 21"/>
          <p:cNvSpPr txBox="false"/>
          <p:nvPr isPhoto="false"/>
        </p:nvSpPr>
        <p:spPr>
          <a:xfrm flipH="false" flipV="false" rot="0">
            <a:off x="537344" y="1125364"/>
            <a:ext cx="3973934" cy="3651721"/>
          </a:xfrm>
          <a:prstGeom prst="roundRect">
            <a:avLst>
              <a:gd fmla="val 2397" name="adj"/>
            </a:avLst>
          </a:prstGeom>
          <a:solidFill>
            <a:srgbClr val="2563EB">
              <a:alpha val="95000"/>
            </a:srgbClr>
          </a:solidFill>
          <a:ln>
            <a:prstDash val="solid"/>
          </a:ln>
        </p:spPr>
      </p:sp>
      <p:sp>
        <p:nvSpPr>
          <p:cNvPr hidden="false" id="22" name="Shape 22"/>
          <p:cNvSpPr txBox="false"/>
          <p:nvPr isPhoto="false"/>
        </p:nvSpPr>
        <p:spPr>
          <a:xfrm flipH="false" flipV="false" rot="0">
            <a:off x="658862" y="1224111"/>
            <a:ext cx="1887289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Проблема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" name="Shape 23"/>
          <p:cNvSpPr txBox="false"/>
          <p:nvPr isPhoto="false"/>
        </p:nvSpPr>
        <p:spPr>
          <a:xfrm flipH="false" flipV="false" rot="0">
            <a:off x="658862" y="1501601"/>
            <a:ext cx="3730897" cy="52886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21000"/>
              </a:lnSpc>
            </a:pPr>
            <a:r>
              <a:rPr sz="95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Отсутствие инструмента для отслеживания повторных обращений ведёт к снижению качества госуслуг и росту недовольства граждан.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" name="Shape 24"/>
          <p:cNvSpPr txBox="false"/>
          <p:nvPr isPhoto="false"/>
        </p:nvSpPr>
        <p:spPr>
          <a:xfrm flipH="false" flipV="false" rot="0">
            <a:off x="658862" y="2129210"/>
            <a:ext cx="1887289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Цель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" name="Shape 25"/>
          <p:cNvSpPr txBox="false"/>
          <p:nvPr isPhoto="false"/>
        </p:nvSpPr>
        <p:spPr>
          <a:xfrm flipH="false" flipV="false" rot="0">
            <a:off x="658862" y="2406700"/>
            <a:ext cx="3730897" cy="35257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21000"/>
              </a:lnSpc>
            </a:pPr>
            <a:r>
              <a:rPr sz="95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Разработка веб-системы для автоматического выявления повторных обращений и анализа их причин.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" name="Shape 26"/>
          <p:cNvSpPr txBox="false"/>
          <p:nvPr isPhoto="false"/>
        </p:nvSpPr>
        <p:spPr>
          <a:xfrm flipH="false" flipV="false" rot="0">
            <a:off x="4724995" y="1224111"/>
            <a:ext cx="1887289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Задачи проекта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" name="Shape 27"/>
          <p:cNvSpPr txBox="false"/>
          <p:nvPr isPhoto="false"/>
        </p:nvSpPr>
        <p:spPr>
          <a:xfrm flipH="false" flipV="false" rot="0">
            <a:off x="4724995" y="1513954"/>
            <a:ext cx="243111" cy="15187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none"/>
          <a:p>
            <a:pPr algn="l" indent="0" marL="0">
              <a:lnSpc>
                <a:spcPct val="100000"/>
              </a:lnSpc>
            </a:pPr>
            <a:r>
              <a:rPr sz="950">
                <a:solidFill>
                  <a:srgbClr val="E5E0DF"/>
                </a:solidFill>
                <a:latin typeface="Overpass Light"/>
                <a:ea typeface="Overpass Light"/>
                <a:cs typeface="Overpass Light"/>
              </a:rPr>
              <a:t>01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" name="Shape 28"/>
          <p:cNvSpPr txBox="false"/>
          <p:nvPr isPhoto="false"/>
        </p:nvSpPr>
        <p:spPr>
          <a:xfrm flipH="false" flipV="false" rot="0">
            <a:off x="4724995" y="1706166"/>
            <a:ext cx="3798912" cy="14288"/>
          </a:xfrm>
          <a:prstGeom prst="rect">
            <a:avLst/>
          </a:prstGeom>
          <a:solidFill>
            <a:srgbClr val="F20374"/>
          </a:solidFill>
          <a:ln>
            <a:prstDash val="solid"/>
          </a:ln>
        </p:spPr>
      </p:sp>
      <p:sp>
        <p:nvSpPr>
          <p:cNvPr hidden="false" id="29" name="Shape 29"/>
          <p:cNvSpPr txBox="false"/>
          <p:nvPr isPhoto="false"/>
        </p:nvSpPr>
        <p:spPr>
          <a:xfrm flipH="false" flipV="false" rot="0">
            <a:off x="4724995" y="1795461"/>
            <a:ext cx="2164110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Проектирование базы данных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" name="Shape 30"/>
          <p:cNvSpPr txBox="false"/>
          <p:nvPr isPhoto="false"/>
        </p:nvSpPr>
        <p:spPr>
          <a:xfrm flipH="false" flipV="false" rot="0">
            <a:off x="4724995" y="2164110"/>
            <a:ext cx="243111" cy="151878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none"/>
          <a:p>
            <a:pPr algn="l" indent="0" marL="0">
              <a:lnSpc>
                <a:spcPct val="100000"/>
              </a:lnSpc>
            </a:pPr>
            <a:r>
              <a:rPr sz="950">
                <a:solidFill>
                  <a:srgbClr val="E5E0DF"/>
                </a:solidFill>
                <a:latin typeface="Overpass Light"/>
                <a:ea typeface="Overpass Light"/>
                <a:cs typeface="Overpass Light"/>
              </a:rPr>
              <a:t>02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" name="Shape 31"/>
          <p:cNvSpPr txBox="false"/>
          <p:nvPr isPhoto="false"/>
        </p:nvSpPr>
        <p:spPr>
          <a:xfrm flipH="false" flipV="false" rot="0">
            <a:off x="4724995" y="2356321"/>
            <a:ext cx="3798912" cy="14288"/>
          </a:xfrm>
          <a:prstGeom prst="rect">
            <a:avLst/>
          </a:prstGeom>
          <a:solidFill>
            <a:srgbClr val="F20374"/>
          </a:solidFill>
          <a:ln>
            <a:prstDash val="solid"/>
          </a:ln>
        </p:spPr>
      </p:sp>
      <p:sp>
        <p:nvSpPr>
          <p:cNvPr hidden="false" id="32" name="Shape 32"/>
          <p:cNvSpPr txBox="false"/>
          <p:nvPr isPhoto="false"/>
        </p:nvSpPr>
        <p:spPr>
          <a:xfrm flipH="false" flipV="false" rot="0">
            <a:off x="4724995" y="2445618"/>
            <a:ext cx="2021235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Реализация CRUD-операций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" name="Shape 33"/>
          <p:cNvSpPr txBox="false"/>
          <p:nvPr isPhoto="false"/>
        </p:nvSpPr>
        <p:spPr>
          <a:xfrm flipH="false" flipV="false" rot="0">
            <a:off x="4724995" y="2814265"/>
            <a:ext cx="243111" cy="15187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none"/>
          <a:p>
            <a:pPr algn="l" indent="0" marL="0">
              <a:lnSpc>
                <a:spcPct val="100000"/>
              </a:lnSpc>
            </a:pPr>
            <a:r>
              <a:rPr sz="950">
                <a:solidFill>
                  <a:srgbClr val="E5E0DF"/>
                </a:solidFill>
                <a:latin typeface="Overpass Light"/>
                <a:ea typeface="Overpass Light"/>
                <a:cs typeface="Overpass Light"/>
              </a:rPr>
              <a:t>03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" name="Shape 34"/>
          <p:cNvSpPr txBox="false"/>
          <p:nvPr isPhoto="false"/>
        </p:nvSpPr>
        <p:spPr>
          <a:xfrm flipH="false" flipV="false" rot="0">
            <a:off x="4724995" y="3006477"/>
            <a:ext cx="3798912" cy="14288"/>
          </a:xfrm>
          <a:prstGeom prst="rect">
            <a:avLst/>
          </a:prstGeom>
          <a:solidFill>
            <a:srgbClr val="F20374"/>
          </a:solidFill>
          <a:ln>
            <a:prstDash val="solid"/>
          </a:ln>
        </p:spPr>
      </p:sp>
      <p:sp>
        <p:nvSpPr>
          <p:cNvPr hidden="false" id="35" name="Shape 35"/>
          <p:cNvSpPr txBox="false"/>
          <p:nvPr isPhoto="false"/>
        </p:nvSpPr>
        <p:spPr>
          <a:xfrm flipH="false" flipV="false" rot="0">
            <a:off x="4724995" y="3095774"/>
            <a:ext cx="1787649" cy="178743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Фильтрация и пагинация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" name="Shape 36"/>
          <p:cNvSpPr txBox="false"/>
          <p:nvPr isPhoto="false"/>
        </p:nvSpPr>
        <p:spPr>
          <a:xfrm flipH="false" flipV="false" rot="0">
            <a:off x="4724995" y="3464421"/>
            <a:ext cx="243111" cy="15187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none"/>
          <a:p>
            <a:pPr algn="l" indent="0" marL="0">
              <a:lnSpc>
                <a:spcPct val="100000"/>
              </a:lnSpc>
            </a:pPr>
            <a:r>
              <a:rPr sz="950">
                <a:solidFill>
                  <a:srgbClr val="E5E0DF"/>
                </a:solidFill>
                <a:latin typeface="Overpass Light"/>
                <a:ea typeface="Overpass Light"/>
                <a:cs typeface="Overpass Light"/>
              </a:rPr>
              <a:t>04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" name="Shape 37"/>
          <p:cNvSpPr txBox="false"/>
          <p:nvPr isPhoto="false"/>
        </p:nvSpPr>
        <p:spPr>
          <a:xfrm flipH="false" flipV="false" rot="0">
            <a:off x="4724995" y="3656633"/>
            <a:ext cx="3798912" cy="14287"/>
          </a:xfrm>
          <a:prstGeom prst="rect">
            <a:avLst/>
          </a:prstGeom>
          <a:solidFill>
            <a:srgbClr val="F20374"/>
          </a:solidFill>
          <a:ln>
            <a:prstDash val="solid"/>
          </a:ln>
        </p:spPr>
      </p:sp>
      <p:sp>
        <p:nvSpPr>
          <p:cNvPr hidden="false" id="38" name="Shape 38"/>
          <p:cNvSpPr txBox="false"/>
          <p:nvPr isPhoto="false"/>
        </p:nvSpPr>
        <p:spPr>
          <a:xfrm flipH="false" flipV="false" rot="0">
            <a:off x="4724995" y="3745929"/>
            <a:ext cx="1649388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Аналитические отчёты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" name="Shape 39"/>
          <p:cNvSpPr txBox="false"/>
          <p:nvPr isPhoto="false"/>
        </p:nvSpPr>
        <p:spPr>
          <a:xfrm flipH="false" flipV="false" rot="0">
            <a:off x="4724995" y="4114577"/>
            <a:ext cx="243111" cy="15187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none"/>
          <a:p>
            <a:pPr algn="l" indent="0" marL="0">
              <a:lnSpc>
                <a:spcPct val="100000"/>
              </a:lnSpc>
            </a:pPr>
            <a:r>
              <a:rPr sz="950">
                <a:solidFill>
                  <a:srgbClr val="E5E0DF"/>
                </a:solidFill>
                <a:latin typeface="Overpass Light"/>
                <a:ea typeface="Overpass Light"/>
                <a:cs typeface="Overpass Light"/>
              </a:rPr>
              <a:t>05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" name="Shape 40"/>
          <p:cNvSpPr txBox="false"/>
          <p:nvPr isPhoto="false"/>
        </p:nvSpPr>
        <p:spPr>
          <a:xfrm flipH="false" flipV="false" rot="0">
            <a:off x="4724995" y="4306788"/>
            <a:ext cx="3798912" cy="14287"/>
          </a:xfrm>
          <a:prstGeom prst="rect">
            <a:avLst/>
          </a:prstGeom>
          <a:solidFill>
            <a:srgbClr val="F20374"/>
          </a:solidFill>
          <a:ln>
            <a:prstDash val="solid"/>
          </a:ln>
        </p:spPr>
      </p:sp>
      <p:sp>
        <p:nvSpPr>
          <p:cNvPr hidden="false" id="41" name="Shape 41"/>
          <p:cNvSpPr txBox="false"/>
          <p:nvPr isPhoto="false"/>
        </p:nvSpPr>
        <p:spPr>
          <a:xfrm flipH="false" flipV="false" rot="0">
            <a:off x="4724995" y="4396085"/>
            <a:ext cx="1624681" cy="17874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Тестирование системы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2" name="GroupShape 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3" name="Shape 43"/>
          <p:cNvSpPr txBox="false"/>
          <p:nvPr isPhoto="false"/>
        </p:nvSpPr>
        <p:spPr>
          <a:xfrm flipH="false" flipV="false" rot="0">
            <a:off x="548953" y="375791"/>
            <a:ext cx="809104" cy="219224"/>
          </a:xfrm>
          <a:prstGeom prst="roundRect">
            <a:avLst>
              <a:gd fmla="val 18990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44" name="Shape 44"/>
          <p:cNvSpPr txBox="false"/>
          <p:nvPr isPhoto="false"/>
        </p:nvSpPr>
        <p:spPr>
          <a:xfrm flipH="false" flipV="false" rot="0">
            <a:off x="623218" y="412924"/>
            <a:ext cx="1117774" cy="14495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7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ТЕХНОЛОГИИ</a:t>
            </a:r>
            <a:endParaRPr sz="7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" name="Shape 45"/>
          <p:cNvSpPr txBox="false"/>
          <p:nvPr isPhoto="false"/>
        </p:nvSpPr>
        <p:spPr>
          <a:xfrm flipH="false" flipV="false" rot="0">
            <a:off x="548953" y="636017"/>
            <a:ext cx="5805860" cy="36440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22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Технологический стек и архитектура</a:t>
            </a:r>
            <a:endParaRPr sz="2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47" name="Picture 47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 flipH="false" flipV="false" rot="0">
            <a:off x="548953" y="1154311"/>
            <a:ext cx="247724" cy="247724"/>
          </a:xfrm>
          <a:prstGeom prst="rect">
            <a:avLst/>
          </a:prstGeom>
        </p:spPr>
      </p:pic>
      <p:sp>
        <p:nvSpPr>
          <p:cNvPr hidden="false" id="48" name="Shape 48"/>
          <p:cNvSpPr txBox="false"/>
          <p:nvPr isPhoto="false"/>
        </p:nvSpPr>
        <p:spPr>
          <a:xfrm flipH="false" flipV="false" rot="0">
            <a:off x="548953" y="1530251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Python + Flask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9" name="Shape 49"/>
          <p:cNvSpPr txBox="false"/>
          <p:nvPr isPhoto="false"/>
        </p:nvSpPr>
        <p:spPr>
          <a:xfrm flipH="false" flipV="false" rot="0">
            <a:off x="548953" y="1773957"/>
            <a:ext cx="3958903" cy="1811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Серверная логика и маршрутизация запросов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51" name="Picture 51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 flipH="false" flipV="false" rot="0">
            <a:off x="4636071" y="1154311"/>
            <a:ext cx="247724" cy="247724"/>
          </a:xfrm>
          <a:prstGeom prst="rect">
            <a:avLst/>
          </a:prstGeom>
        </p:spPr>
      </p:pic>
      <p:sp>
        <p:nvSpPr>
          <p:cNvPr hidden="false" id="52" name="Shape 52"/>
          <p:cNvSpPr txBox="false"/>
          <p:nvPr isPhoto="false"/>
        </p:nvSpPr>
        <p:spPr>
          <a:xfrm flipH="false" flipV="false" rot="0">
            <a:off x="4636071" y="1530251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SQLite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3" name="Shape 53"/>
          <p:cNvSpPr txBox="false"/>
          <p:nvPr isPhoto="false"/>
        </p:nvSpPr>
        <p:spPr>
          <a:xfrm flipH="false" flipV="false" rot="0">
            <a:off x="4636071" y="1773957"/>
            <a:ext cx="3958976" cy="1811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Лёгкая реляционная база данных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55" name="Picture 55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 flipH="false" flipV="false" rot="0">
            <a:off x="548953" y="2160315"/>
            <a:ext cx="247724" cy="247724"/>
          </a:xfrm>
          <a:prstGeom prst="rect">
            <a:avLst/>
          </a:prstGeom>
        </p:spPr>
      </p:pic>
      <p:sp>
        <p:nvSpPr>
          <p:cNvPr hidden="false" id="56" name="Shape 56"/>
          <p:cNvSpPr txBox="false"/>
          <p:nvPr isPhoto="false"/>
        </p:nvSpPr>
        <p:spPr>
          <a:xfrm flipH="false" flipV="false" rot="0">
            <a:off x="548953" y="2536254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Bootstrap 5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7" name="Shape 57"/>
          <p:cNvSpPr txBox="false"/>
          <p:nvPr isPhoto="false"/>
        </p:nvSpPr>
        <p:spPr>
          <a:xfrm flipH="false" flipV="false" rot="0">
            <a:off x="548953" y="2779961"/>
            <a:ext cx="3958903" cy="1811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Адаптивный интерфейс и компоненты UI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59" name="Picture 59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 flipH="false" flipV="false" rot="0">
            <a:off x="4636071" y="2160315"/>
            <a:ext cx="247724" cy="247724"/>
          </a:xfrm>
          <a:prstGeom prst="rect">
            <a:avLst/>
          </a:prstGeom>
        </p:spPr>
      </p:pic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4636071" y="2536254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Chart.js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4636071" y="2779961"/>
            <a:ext cx="3958976" cy="1811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Интерактивные графики и визуализация данных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63" name="Picture 63"/>
          <p:cNvPicPr preferRelativeResize="true"/>
          <p:nvPr isPhoto="false"/>
        </p:nvPicPr>
        <p:blipFill>
          <a:blip r:embed="rId5"/>
          <a:stretch/>
        </p:blipFill>
        <p:spPr>
          <a:xfrm flipH="false" flipV="false" rot="0">
            <a:off x="548953" y="3448198"/>
            <a:ext cx="2613645" cy="714375"/>
          </a:xfrm>
          <a:prstGeom prst="rect">
            <a:avLst/>
          </a:prstGeom>
        </p:spPr>
      </p:pic>
      <p:sp>
        <p:nvSpPr>
          <p:cNvPr hidden="false" id="64" name="Shape 64"/>
          <p:cNvSpPr txBox="false"/>
          <p:nvPr isPhoto="false"/>
        </p:nvSpPr>
        <p:spPr>
          <a:xfrm flipH="false" flipV="false" rot="0">
            <a:off x="672778" y="3922364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Presentation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5" name="Shape 65"/>
          <p:cNvSpPr txBox="false"/>
          <p:nvPr isPhoto="false"/>
        </p:nvSpPr>
        <p:spPr>
          <a:xfrm flipH="false" flipV="false" rot="0">
            <a:off x="672778" y="4166071"/>
            <a:ext cx="2365995" cy="18119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Bootstrap 5 UI в браузере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67" name="Picture 67"/>
          <p:cNvPicPr preferRelativeResize="true"/>
          <p:nvPr isPhoto="false"/>
        </p:nvPicPr>
        <p:blipFill>
          <a:blip r:embed="rId6"/>
          <a:stretch/>
        </p:blipFill>
        <p:spPr>
          <a:xfrm flipH="false" flipV="false" rot="0">
            <a:off x="3265139" y="3262387"/>
            <a:ext cx="2613644" cy="714375"/>
          </a:xfrm>
          <a:prstGeom prst="rect">
            <a:avLst/>
          </a:prstGeom>
        </p:spPr>
      </p:pic>
      <p:sp>
        <p:nvSpPr>
          <p:cNvPr hidden="false" id="68" name="Shape 68"/>
          <p:cNvSpPr txBox="false"/>
          <p:nvPr isPhoto="false"/>
        </p:nvSpPr>
        <p:spPr>
          <a:xfrm flipH="false" flipV="false" rot="0">
            <a:off x="3388964" y="3736553"/>
            <a:ext cx="1457623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Business Logic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9" name="Shape 69"/>
          <p:cNvSpPr txBox="false"/>
          <p:nvPr isPhoto="false"/>
        </p:nvSpPr>
        <p:spPr>
          <a:xfrm flipH="false" flipV="false" rot="0">
            <a:off x="3388964" y="3980259"/>
            <a:ext cx="2365994" cy="18119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Flask на Python, маршрутизация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71" name="Picture 71"/>
          <p:cNvPicPr preferRelativeResize="true"/>
          <p:nvPr isPhoto="false"/>
        </p:nvPicPr>
        <p:blipFill>
          <a:blip r:embed="rId7"/>
          <a:stretch/>
        </p:blipFill>
        <p:spPr>
          <a:xfrm flipH="false" flipV="false" rot="0">
            <a:off x="5981328" y="3076575"/>
            <a:ext cx="2613719" cy="714375"/>
          </a:xfrm>
          <a:prstGeom prst="rect">
            <a:avLst/>
          </a:prstGeom>
        </p:spPr>
      </p:pic>
      <p:sp>
        <p:nvSpPr>
          <p:cNvPr hidden="false" id="72" name="Shape 72"/>
          <p:cNvSpPr txBox="false"/>
          <p:nvPr isPhoto="false"/>
        </p:nvSpPr>
        <p:spPr>
          <a:xfrm flipH="false" flipV="false" rot="0">
            <a:off x="6105153" y="3550741"/>
            <a:ext cx="1457622" cy="18216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1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Data Layer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3" name="Shape 73"/>
          <p:cNvSpPr txBox="false"/>
          <p:nvPr isPhoto="false"/>
        </p:nvSpPr>
        <p:spPr>
          <a:xfrm flipH="false" flipV="false" rot="0">
            <a:off x="6105153" y="3794447"/>
            <a:ext cx="2366069" cy="18119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SQLite реляционная база данных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548953" y="4586511"/>
            <a:ext cx="8503295" cy="18119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2000"/>
              </a:lnSpc>
            </a:pPr>
            <a:r>
              <a:rPr sz="9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Трёхуровневая архитектура обеспечивает чёткое разделение ответственности и упрощает поддержку системы.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5" name="GroupShape 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6" name="Shape 76"/>
          <p:cNvSpPr txBox="false"/>
          <p:nvPr isPhoto="false"/>
        </p:nvSpPr>
        <p:spPr>
          <a:xfrm flipH="false" flipV="false" rot="0">
            <a:off x="1156171" y="302716"/>
            <a:ext cx="733127" cy="177701"/>
          </a:xfrm>
          <a:prstGeom prst="roundRect">
            <a:avLst>
              <a:gd fmla="val 19891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1219274" y="334268"/>
            <a:ext cx="1064121" cy="1145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14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БАЗА ДАННЫХ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1156171" y="509960"/>
            <a:ext cx="5884515" cy="30933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9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Структура данных и ключевой функционал</a:t>
            </a:r>
            <a:endParaRPr sz="1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1156171" y="1004069"/>
            <a:ext cx="1940644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ER-диаграмма: 6 таблиц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81" name="Picture 81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1156171" y="1241896"/>
            <a:ext cx="3287464" cy="2609627"/>
          </a:xfrm>
          <a:prstGeom prst="rect">
            <a:avLst/>
          </a:prstGeom>
        </p:spPr>
      </p:pic>
      <p:sp>
        <p:nvSpPr>
          <p:cNvPr hidden="false" id="82" name="Shape 82"/>
          <p:cNvSpPr txBox="false"/>
          <p:nvPr isPhoto="false"/>
        </p:nvSpPr>
        <p:spPr>
          <a:xfrm flipH="false" flipV="false" rot="0">
            <a:off x="2500186" y="2344380"/>
            <a:ext cx="590778" cy="38116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ER-диаграмма: 6 таблиц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false"/>
          <p:nvPr isPhoto="false"/>
        </p:nvSpPr>
        <p:spPr>
          <a:xfrm flipH="false" flipV="false" rot="0">
            <a:off x="3081358" y="1512473"/>
            <a:ext cx="878887" cy="12705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Обращения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3081358" y="1677954"/>
            <a:ext cx="878887" cy="18401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Центральная таблица заявок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false"/>
          <p:nvPr isPhoto="false"/>
        </p:nvSpPr>
        <p:spPr>
          <a:xfrm flipH="false" flipV="false" rot="0">
            <a:off x="1616421" y="1512473"/>
            <a:ext cx="878886" cy="12705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Пользователи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1616421" y="1677954"/>
            <a:ext cx="878886" cy="18401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Операторы и исполнители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false"/>
          <p:nvPr isPhoto="false"/>
        </p:nvSpPr>
        <p:spPr>
          <a:xfrm flipH="false" flipV="false" rot="0">
            <a:off x="1616421" y="3227170"/>
            <a:ext cx="878886" cy="12705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Статусы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1616421" y="3392650"/>
            <a:ext cx="878886" cy="18401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Состояние обработки записи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false"/>
          <p:nvPr isPhoto="false"/>
        </p:nvSpPr>
        <p:spPr>
          <a:xfrm flipH="false" flipV="false" rot="0">
            <a:off x="3081358" y="3227170"/>
            <a:ext cx="878887" cy="12705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Категории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false"/>
          <p:nvPr isPhoto="false"/>
        </p:nvSpPr>
        <p:spPr>
          <a:xfrm flipH="false" flipV="false" rot="0">
            <a:off x="3081358" y="3392650"/>
            <a:ext cx="878887" cy="18401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Классификация обращений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false"/>
          <p:nvPr isPhoto="false"/>
        </p:nvSpPr>
        <p:spPr>
          <a:xfrm flipH="false" flipV="false" rot="0">
            <a:off x="3398360" y="2357814"/>
            <a:ext cx="898100" cy="12705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Граждане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false"/>
          <p:nvPr isPhoto="false"/>
        </p:nvSpPr>
        <p:spPr>
          <a:xfrm flipH="false" flipV="false" rot="0">
            <a:off x="3398360" y="2523295"/>
            <a:ext cx="898100" cy="18401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Информация о заявителях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1294615" y="2253047"/>
            <a:ext cx="898098" cy="25411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104000"/>
              </a:lnSpc>
            </a:pPr>
            <a:r>
              <a:rPr b="true" sz="8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Причины повторов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1294615" y="2545584"/>
            <a:ext cx="898098" cy="27602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ctr" indent="0" marL="0">
              <a:lnSpc>
                <a:spcPct val="89000"/>
              </a:lnSpc>
            </a:pPr>
            <a:r>
              <a:rPr sz="6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Метки для повторных обращений</a:t>
            </a:r>
            <a:endParaRPr sz="6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4704978" y="1988939"/>
            <a:ext cx="3109242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Автоматическое определение повторности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4704978" y="2217465"/>
            <a:ext cx="3287464" cy="42996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14000"/>
              </a:lnSpc>
            </a:pPr>
            <a:r>
              <a:rPr sz="8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Система анализирует обращения по связке </a:t>
            </a:r>
            <a:r>
              <a:rPr b="true" sz="8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гражданин + категория</a:t>
            </a:r>
            <a:r>
              <a:rPr sz="8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 и автоматически помечает повторные записи в колонке «Тип».</a:t>
            </a:r>
            <a:endParaRPr sz="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4704978" y="2721322"/>
            <a:ext cx="1694780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Статусы обращений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1156171" y="4017913"/>
            <a:ext cx="1652439" cy="374451"/>
          </a:xfrm>
          <a:prstGeom prst="roundRect">
            <a:avLst>
              <a:gd fmla="val 11799" name="adj"/>
            </a:avLst>
          </a:prstGeom>
          <a:solidFill>
            <a:srgbClr val="2563EB"/>
          </a:solidFill>
          <a:ln w="4763">
            <a:solidFill>
              <a:srgbClr val="3E7CFF"/>
            </a:solidFill>
            <a:prstDash val="solid"/>
          </a:ln>
        </p:spPr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1266081" y="4127822"/>
            <a:ext cx="1237580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Новое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false"/>
          <p:nvPr isPhoto="false"/>
        </p:nvSpPr>
        <p:spPr>
          <a:xfrm flipH="false" flipV="false" rot="0">
            <a:off x="2882503" y="4017913"/>
            <a:ext cx="1652513" cy="374451"/>
          </a:xfrm>
          <a:prstGeom prst="roundRect">
            <a:avLst>
              <a:gd fmla="val 11799" name="adj"/>
            </a:avLst>
          </a:prstGeom>
          <a:solidFill>
            <a:srgbClr val="2563EB"/>
          </a:solidFill>
          <a:ln w="4763">
            <a:solidFill>
              <a:srgbClr val="3E7CFF"/>
            </a:solidFill>
            <a:prstDash val="solid"/>
          </a:ln>
        </p:spPr>
      </p:sp>
      <p:sp>
        <p:nvSpPr>
          <p:cNvPr hidden="false" id="101" name="Shape 101"/>
          <p:cNvSpPr txBox="false"/>
          <p:nvPr isPhoto="false"/>
        </p:nvSpPr>
        <p:spPr>
          <a:xfrm flipH="false" flipV="false" rot="0">
            <a:off x="2992413" y="4127822"/>
            <a:ext cx="1237579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В работе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false"/>
          <p:nvPr isPhoto="false"/>
        </p:nvSpPr>
        <p:spPr>
          <a:xfrm flipH="false" flipV="false" rot="0">
            <a:off x="4608909" y="4017913"/>
            <a:ext cx="1652439" cy="374451"/>
          </a:xfrm>
          <a:prstGeom prst="roundRect">
            <a:avLst>
              <a:gd fmla="val 11799" name="adj"/>
            </a:avLst>
          </a:prstGeom>
          <a:solidFill>
            <a:srgbClr val="2563EB"/>
          </a:solidFill>
          <a:ln w="4763">
            <a:solidFill>
              <a:srgbClr val="3E7CFF"/>
            </a:solidFill>
            <a:prstDash val="solid"/>
          </a:ln>
        </p:spPr>
      </p:sp>
      <p:sp>
        <p:nvSpPr>
          <p:cNvPr hidden="false" id="103" name="Shape 103"/>
          <p:cNvSpPr txBox="false"/>
          <p:nvPr isPhoto="false"/>
        </p:nvSpPr>
        <p:spPr>
          <a:xfrm flipH="false" flipV="false" rot="0">
            <a:off x="4718819" y="4127822"/>
            <a:ext cx="1237579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На проверке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6335241" y="4017913"/>
            <a:ext cx="1652513" cy="374451"/>
          </a:xfrm>
          <a:prstGeom prst="roundRect">
            <a:avLst>
              <a:gd fmla="val 11799" name="adj"/>
            </a:avLst>
          </a:prstGeom>
          <a:solidFill>
            <a:srgbClr val="2563EB"/>
          </a:solidFill>
          <a:ln w="4763">
            <a:solidFill>
              <a:srgbClr val="3E7CFF"/>
            </a:solidFill>
            <a:prstDash val="solid"/>
          </a:ln>
        </p:spPr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6445151" y="4127822"/>
            <a:ext cx="1237579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Решено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1156171" y="4466258"/>
            <a:ext cx="6831583" cy="374451"/>
          </a:xfrm>
          <a:prstGeom prst="roundRect">
            <a:avLst>
              <a:gd fmla="val 11799" name="adj"/>
            </a:avLst>
          </a:prstGeom>
          <a:solidFill>
            <a:srgbClr val="2563EB"/>
          </a:solidFill>
          <a:ln w="4763">
            <a:solidFill>
              <a:srgbClr val="3E7CFF"/>
            </a:solidFill>
            <a:prstDash val="solid"/>
          </a:ln>
        </p:spPr>
      </p:sp>
      <p:sp>
        <p:nvSpPr>
          <p:cNvPr hidden="false" id="107" name="Shape 107"/>
          <p:cNvSpPr txBox="false"/>
          <p:nvPr isPhoto="false"/>
        </p:nvSpPr>
        <p:spPr>
          <a:xfrm flipH="false" flipV="false" rot="0">
            <a:off x="1266081" y="4576167"/>
            <a:ext cx="1237580" cy="15463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9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Отклонено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8" name="GroupShape 10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523577" y="602456"/>
            <a:ext cx="889099" cy="281136"/>
          </a:xfrm>
          <a:prstGeom prst="roundRect">
            <a:avLst>
              <a:gd fmla="val 17881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613321" y="647328"/>
            <a:ext cx="1166813" cy="191393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3000"/>
              </a:lnSpc>
            </a:pPr>
            <a:r>
              <a:rPr sz="9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ИНТЕРФЕЙС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false"/>
          <p:nvPr isPhoto="false"/>
        </p:nvSpPr>
        <p:spPr>
          <a:xfrm flipH="false" flipV="false" rot="0">
            <a:off x="523577" y="943421"/>
            <a:ext cx="7033096" cy="44001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27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Фильтрация, сортировка и пагинация</a:t>
            </a:r>
            <a:endParaRPr sz="27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13" name="Picture 11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23577" y="1776040"/>
            <a:ext cx="2596679" cy="2596679"/>
          </a:xfrm>
          <a:prstGeom prst="rect">
            <a:avLst/>
          </a:prstGeom>
        </p:spPr>
      </p:pic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3489945" y="1799332"/>
            <a:ext cx="3327648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Возможности работы с данными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16" name="Picture 116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 flipH="false" flipV="false" rot="0">
            <a:off x="3470895" y="2187550"/>
            <a:ext cx="1631007" cy="2143125"/>
          </a:xfrm>
          <a:prstGeom prst="rect">
            <a:avLst/>
          </a:prstGeom>
        </p:spPr>
      </p:pic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3715717" y="2356172"/>
            <a:ext cx="1217562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Фильтры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false"/>
          <p:nvPr isPhoto="false"/>
        </p:nvSpPr>
        <p:spPr>
          <a:xfrm flipH="false" flipV="false" rot="0">
            <a:off x="3715717" y="2725713"/>
            <a:ext cx="1217562" cy="119694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По статусу, категории, диапазону дат и флагу «Только повторные»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20" name="Picture 120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 flipH="false" flipV="false" rot="0">
            <a:off x="5232425" y="2187550"/>
            <a:ext cx="1631082" cy="2143125"/>
          </a:xfrm>
          <a:prstGeom prst="rect">
            <a:avLst/>
          </a:prstGeom>
        </p:spPr>
      </p:pic>
      <p:sp>
        <p:nvSpPr>
          <p:cNvPr hidden="false" id="121" name="Shape 121"/>
          <p:cNvSpPr txBox="false"/>
          <p:nvPr isPhoto="false"/>
        </p:nvSpPr>
        <p:spPr>
          <a:xfrm flipH="false" flipV="false" rot="0">
            <a:off x="5477247" y="2356172"/>
            <a:ext cx="1217637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Сортировка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false"/>
          <p:nvPr isPhoto="false"/>
        </p:nvSpPr>
        <p:spPr>
          <a:xfrm flipH="false" flipV="false" rot="0">
            <a:off x="5477247" y="2725713"/>
            <a:ext cx="1217637" cy="119694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Клик по заголовку столбца — сортировка по любому полю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24" name="Picture 124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 flipH="false" flipV="false" rot="0">
            <a:off x="6994029" y="2187550"/>
            <a:ext cx="1631081" cy="2143125"/>
          </a:xfrm>
          <a:prstGeom prst="rect">
            <a:avLst/>
          </a:prstGeom>
        </p:spPr>
      </p:pic>
      <p:sp>
        <p:nvSpPr>
          <p:cNvPr hidden="false" id="125" name="Shape 125"/>
          <p:cNvSpPr txBox="false"/>
          <p:nvPr isPhoto="false"/>
        </p:nvSpPr>
        <p:spPr>
          <a:xfrm flipH="false" flipV="false" rot="0">
            <a:off x="7238851" y="2356172"/>
            <a:ext cx="1217637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Пагинация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6" name="Shape 126"/>
          <p:cNvSpPr txBox="false"/>
          <p:nvPr isPhoto="false"/>
        </p:nvSpPr>
        <p:spPr>
          <a:xfrm flipH="false" flipV="false" rot="0">
            <a:off x="7238851" y="2725713"/>
            <a:ext cx="1217637" cy="143633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По 10 записей на страницу с навигацией и кнопкой «Сбросить фильтры»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7" name="GroupShape 1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8" name="Shape 128"/>
          <p:cNvSpPr txBox="false"/>
          <p:nvPr isPhoto="false"/>
        </p:nvSpPr>
        <p:spPr>
          <a:xfrm flipH="false" flipV="false" rot="0">
            <a:off x="490910" y="481831"/>
            <a:ext cx="857399" cy="257993"/>
          </a:xfrm>
          <a:prstGeom prst="roundRect">
            <a:avLst>
              <a:gd fmla="val 18267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574997" y="523875"/>
            <a:ext cx="1146423" cy="17390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9000"/>
              </a:lnSpc>
            </a:pPr>
            <a:r>
              <a:rPr sz="8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АНАЛИТИКА</a:t>
            </a:r>
            <a:endParaRPr sz="8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490910" y="792361"/>
            <a:ext cx="7297638" cy="41247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25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Аналитические отчёты и экспорт данных</a:t>
            </a:r>
            <a:endParaRPr sz="25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32" name="Picture 132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490910" y="1714649"/>
            <a:ext cx="2634332" cy="2634332"/>
          </a:xfrm>
          <a:prstGeom prst="rect">
            <a:avLst/>
          </a:prstGeom>
        </p:spPr>
      </p:pic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3472160" y="1533525"/>
            <a:ext cx="2285926" cy="20627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Инструменты анализа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35" name="Picture 135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 flipH="false" flipV="false" rot="0">
            <a:off x="3524771" y="1891940"/>
            <a:ext cx="210368" cy="210368"/>
          </a:xfrm>
          <a:prstGeom prst="rect">
            <a:avLst/>
          </a:prstGeom>
        </p:spPr>
      </p:pic>
      <p:sp>
        <p:nvSpPr>
          <p:cNvPr hidden="false" id="136" name="Shape 136"/>
          <p:cNvSpPr txBox="false"/>
          <p:nvPr isPhoto="false"/>
        </p:nvSpPr>
        <p:spPr>
          <a:xfrm flipH="false" flipV="false" rot="0">
            <a:off x="3927946" y="1887661"/>
            <a:ext cx="1725067" cy="20627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Карточки статистики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false"/>
          <p:nvPr isPhoto="false"/>
        </p:nvSpPr>
        <p:spPr>
          <a:xfrm flipH="false" flipV="false" rot="0">
            <a:off x="3927946" y="2225427"/>
            <a:ext cx="2054869" cy="43472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29000"/>
              </a:lnSpc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Сводные показатели по обращениям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39" name="Picture 139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 flipH="false" flipV="false" rot="0">
            <a:off x="6199733" y="1891940"/>
            <a:ext cx="210368" cy="210368"/>
          </a:xfrm>
          <a:prstGeom prst="rect">
            <a:avLst/>
          </a:prstGeom>
        </p:spPr>
      </p:pic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6602909" y="1887661"/>
            <a:ext cx="2054869" cy="412551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Таблицы по категориям и статусам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6602909" y="2431703"/>
            <a:ext cx="2054869" cy="21736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9000"/>
              </a:lnSpc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Детализация с группировкой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43" name="Picture 143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 flipH="false" flipV="false" rot="0">
            <a:off x="3524771" y="2927412"/>
            <a:ext cx="210368" cy="210368"/>
          </a:xfrm>
          <a:prstGeom prst="rect">
            <a:avLst/>
          </a:prstGeom>
        </p:spPr>
      </p:pic>
      <p:sp>
        <p:nvSpPr>
          <p:cNvPr hidden="false" id="144" name="Shape 144"/>
          <p:cNvSpPr txBox="false"/>
          <p:nvPr isPhoto="false"/>
        </p:nvSpPr>
        <p:spPr>
          <a:xfrm flipH="false" flipV="false" rot="0">
            <a:off x="3927946" y="2923133"/>
            <a:ext cx="2054051" cy="20627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Анализ причин повторов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3927946" y="3260899"/>
            <a:ext cx="2054869" cy="43472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29000"/>
              </a:lnSpc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Выявление системных проблем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47" name="Picture 147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/>
        </p:blipFill>
        <p:spPr>
          <a:xfrm flipH="false" flipV="false" rot="0">
            <a:off x="6199733" y="2927412"/>
            <a:ext cx="210368" cy="210368"/>
          </a:xfrm>
          <a:prstGeom prst="rect">
            <a:avLst/>
          </a:prstGeom>
        </p:spPr>
      </p:pic>
      <p:sp>
        <p:nvSpPr>
          <p:cNvPr hidden="false" id="148" name="Shape 148"/>
          <p:cNvSpPr txBox="false"/>
          <p:nvPr isPhoto="false"/>
        </p:nvSpPr>
        <p:spPr>
          <a:xfrm flipH="false" flipV="false" rot="0">
            <a:off x="6602909" y="2923133"/>
            <a:ext cx="2054869" cy="41255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График динамики за 7 дней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false"/>
          <p:nvPr isPhoto="false"/>
        </p:nvSpPr>
        <p:spPr>
          <a:xfrm flipH="false" flipV="false" rot="0">
            <a:off x="6602909" y="3467174"/>
            <a:ext cx="2054869" cy="217363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9000"/>
              </a:lnSpc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Визуализация через Chart.js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151" name="Picture 151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/>
        </p:blipFill>
        <p:spPr>
          <a:xfrm flipH="false" flipV="false" rot="0">
            <a:off x="3524771" y="3962884"/>
            <a:ext cx="210368" cy="210368"/>
          </a:xfrm>
          <a:prstGeom prst="rect">
            <a:avLst/>
          </a:prstGeom>
        </p:spPr>
      </p:pic>
      <p:sp>
        <p:nvSpPr>
          <p:cNvPr hidden="false" id="152" name="Shape 152"/>
          <p:cNvSpPr txBox="false"/>
          <p:nvPr isPhoto="false"/>
        </p:nvSpPr>
        <p:spPr>
          <a:xfrm flipH="false" flipV="false" rot="0">
            <a:off x="3927946" y="3958605"/>
            <a:ext cx="1650132" cy="206276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25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Экспорт в CSV</a:t>
            </a:r>
            <a:endParaRPr sz="12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false"/>
          <p:nvPr isPhoto="false"/>
        </p:nvSpPr>
        <p:spPr>
          <a:xfrm flipH="false" flipV="false" rot="0">
            <a:off x="3927946" y="4296370"/>
            <a:ext cx="4729832" cy="217363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29000"/>
              </a:lnSpc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Все данные — одной кнопкой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4" name="GroupShape 1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499095" y="534888"/>
            <a:ext cx="886941" cy="263649"/>
          </a:xfrm>
          <a:prstGeom prst="roundRect">
            <a:avLst>
              <a:gd fmla="val 18173" name="adj"/>
            </a:avLst>
          </a:prstGeom>
          <a:solidFill>
            <a:srgbClr val="4C0124"/>
          </a:solidFill>
          <a:ln>
            <a:prstDash val="solid"/>
          </a:ln>
        </p:spPr>
      </p:sp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584597" y="577602"/>
            <a:ext cx="1173137" cy="17822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0000"/>
              </a:lnSpc>
            </a:pPr>
            <a:r>
              <a:rPr sz="8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РЕЗУЛЬТАТЫ</a:t>
            </a:r>
            <a:endParaRPr sz="8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false"/>
          <p:nvPr isPhoto="false"/>
        </p:nvSpPr>
        <p:spPr>
          <a:xfrm flipH="false" flipV="false" rot="0">
            <a:off x="499095" y="852859"/>
            <a:ext cx="5452244" cy="41939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26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Тестирование и итоги проекта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false"/>
          <p:nvPr isPhoto="false"/>
        </p:nvSpPr>
        <p:spPr>
          <a:xfrm flipH="false" flipV="false" rot="0">
            <a:off x="499095" y="1611957"/>
            <a:ext cx="2134791" cy="20962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Что протестировано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false"/>
          <p:nvPr isPhoto="false"/>
        </p:nvSpPr>
        <p:spPr>
          <a:xfrm flipH="false" flipV="false" rot="0">
            <a:off x="499095" y="1974427"/>
            <a:ext cx="1881560" cy="1277541"/>
          </a:xfrm>
          <a:prstGeom prst="roundRect">
            <a:avLst>
              <a:gd fmla="val 4688" name="adj"/>
            </a:avLst>
          </a:prstGeom>
          <a:solidFill>
            <a:srgbClr val="7E023C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hidden="false" id="160" name="Shape 160"/>
          <p:cNvSpPr txBox="false"/>
          <p:nvPr isPhoto="false"/>
        </p:nvSpPr>
        <p:spPr>
          <a:xfrm flipH="false" flipV="false" rot="0">
            <a:off x="646435" y="2121768"/>
            <a:ext cx="427731" cy="427732"/>
          </a:xfrm>
          <a:prstGeom prst="roundRect">
            <a:avLst>
              <a:gd fmla="val 13359834" name="adj"/>
            </a:avLst>
          </a:prstGeom>
          <a:solidFill>
            <a:srgbClr val="2563EB"/>
          </a:solidFill>
          <a:ln>
            <a:prstDash val="solid"/>
          </a:ln>
        </p:spPr>
      </p:sp>
      <p:pic>
        <p:nvPicPr>
          <p:cNvPr hidden="false" id="162" name="Picture 162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/>
        </p:blipFill>
        <p:spPr>
          <a:xfrm flipH="false" flipV="false" rot="0">
            <a:off x="764009" y="2239342"/>
            <a:ext cx="192508" cy="192508"/>
          </a:xfrm>
          <a:prstGeom prst="rect">
            <a:avLst/>
          </a:prstGeom>
        </p:spPr>
      </p:pic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646435" y="2685380"/>
            <a:ext cx="1586880" cy="41924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Добавление и валидация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4" name="Shape 164"/>
          <p:cNvSpPr txBox="false"/>
          <p:nvPr isPhoto="false"/>
        </p:nvSpPr>
        <p:spPr>
          <a:xfrm flipH="false" flipV="false" rot="0">
            <a:off x="2516535" y="1974427"/>
            <a:ext cx="1881560" cy="1277541"/>
          </a:xfrm>
          <a:prstGeom prst="roundRect">
            <a:avLst>
              <a:gd fmla="val 4688" name="adj"/>
            </a:avLst>
          </a:prstGeom>
          <a:solidFill>
            <a:srgbClr val="7E023C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2663875" y="2121768"/>
            <a:ext cx="427732" cy="427732"/>
          </a:xfrm>
          <a:prstGeom prst="roundRect">
            <a:avLst>
              <a:gd fmla="val 13359834" name="adj"/>
            </a:avLst>
          </a:prstGeom>
          <a:solidFill>
            <a:srgbClr val="2563EB"/>
          </a:solidFill>
          <a:ln>
            <a:prstDash val="solid"/>
          </a:ln>
        </p:spPr>
      </p:sp>
      <p:pic>
        <p:nvPicPr>
          <p:cNvPr hidden="false" id="167" name="Picture 167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/>
        </p:blipFill>
        <p:spPr>
          <a:xfrm flipH="false" flipV="false" rot="0">
            <a:off x="2781449" y="2239342"/>
            <a:ext cx="192508" cy="192508"/>
          </a:xfrm>
          <a:prstGeom prst="rect">
            <a:avLst/>
          </a:prstGeom>
        </p:spPr>
      </p:pic>
      <p:sp>
        <p:nvSpPr>
          <p:cNvPr hidden="false" id="168" name="Shape 168"/>
          <p:cNvSpPr txBox="false"/>
          <p:nvPr isPhoto="false"/>
        </p:nvSpPr>
        <p:spPr>
          <a:xfrm flipH="false" flipV="false" rot="0">
            <a:off x="2663875" y="2685380"/>
            <a:ext cx="1586879" cy="41924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Определение повторности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9" name="Shape 169"/>
          <p:cNvSpPr txBox="false"/>
          <p:nvPr isPhoto="false"/>
        </p:nvSpPr>
        <p:spPr>
          <a:xfrm flipH="false" flipV="false" rot="0">
            <a:off x="499095" y="3387849"/>
            <a:ext cx="1881560" cy="1067916"/>
          </a:xfrm>
          <a:prstGeom prst="roundRect">
            <a:avLst>
              <a:gd fmla="val 5608" name="adj"/>
            </a:avLst>
          </a:prstGeom>
          <a:solidFill>
            <a:srgbClr val="7E023C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hidden="false" id="170" name="Shape 170"/>
          <p:cNvSpPr txBox="false"/>
          <p:nvPr isPhoto="false"/>
        </p:nvSpPr>
        <p:spPr>
          <a:xfrm flipH="false" flipV="false" rot="0">
            <a:off x="646435" y="3535188"/>
            <a:ext cx="427731" cy="427732"/>
          </a:xfrm>
          <a:prstGeom prst="roundRect">
            <a:avLst>
              <a:gd fmla="val 13359834" name="adj"/>
            </a:avLst>
          </a:prstGeom>
          <a:solidFill>
            <a:srgbClr val="2563EB"/>
          </a:solidFill>
          <a:ln>
            <a:prstDash val="solid"/>
          </a:ln>
        </p:spPr>
      </p:sp>
      <p:pic>
        <p:nvPicPr>
          <p:cNvPr hidden="false" id="172" name="Picture 172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/>
        </p:blipFill>
        <p:spPr>
          <a:xfrm flipH="false" flipV="false" rot="0">
            <a:off x="764009" y="3652763"/>
            <a:ext cx="192508" cy="192509"/>
          </a:xfrm>
          <a:prstGeom prst="rect">
            <a:avLst/>
          </a:prstGeom>
        </p:spPr>
      </p:pic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646435" y="4098801"/>
            <a:ext cx="1586880" cy="20962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Фильтры и график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false"/>
          <p:nvPr isPhoto="false"/>
        </p:nvSpPr>
        <p:spPr>
          <a:xfrm flipH="false" flipV="false" rot="0">
            <a:off x="2516535" y="3387849"/>
            <a:ext cx="1881560" cy="1067916"/>
          </a:xfrm>
          <a:prstGeom prst="roundRect">
            <a:avLst>
              <a:gd fmla="val 5608" name="adj"/>
            </a:avLst>
          </a:prstGeom>
          <a:solidFill>
            <a:srgbClr val="7E023C"/>
          </a:solidFill>
          <a:ln w="4763">
            <a:solidFill>
              <a:srgbClr val="2563EB"/>
            </a:solidFill>
            <a:prstDash val="solid"/>
          </a:ln>
        </p:spPr>
      </p:sp>
      <p:sp>
        <p:nvSpPr>
          <p:cNvPr hidden="false" id="175" name="Shape 175"/>
          <p:cNvSpPr txBox="false"/>
          <p:nvPr isPhoto="false"/>
        </p:nvSpPr>
        <p:spPr>
          <a:xfrm flipH="false" flipV="false" rot="0">
            <a:off x="2663875" y="3535188"/>
            <a:ext cx="427732" cy="427732"/>
          </a:xfrm>
          <a:prstGeom prst="roundRect">
            <a:avLst>
              <a:gd fmla="val 13359834" name="adj"/>
            </a:avLst>
          </a:prstGeom>
          <a:solidFill>
            <a:srgbClr val="2563EB"/>
          </a:solidFill>
          <a:ln>
            <a:prstDash val="solid"/>
          </a:ln>
        </p:spPr>
      </p:sp>
      <p:pic>
        <p:nvPicPr>
          <p:cNvPr hidden="false" id="177" name="Picture 177"/>
          <p:cNvPicPr preferRelativeResize="true"/>
          <p:nvPr isPhoto="false"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/>
        </p:blipFill>
        <p:spPr>
          <a:xfrm flipH="false" flipV="false" rot="0">
            <a:off x="2781449" y="3652763"/>
            <a:ext cx="192508" cy="192509"/>
          </a:xfrm>
          <a:prstGeom prst="rect">
            <a:avLst/>
          </a:prstGeom>
        </p:spPr>
      </p:pic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2663875" y="4098801"/>
            <a:ext cx="1586879" cy="20962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E5E0DF"/>
                </a:solidFill>
                <a:latin typeface="Overpass Bold"/>
                <a:ea typeface="Overpass Bold"/>
                <a:cs typeface="Overpass Bold"/>
              </a:rPr>
              <a:t>Экспорт CSV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false"/>
          <p:nvPr isPhoto="false"/>
        </p:nvSpPr>
        <p:spPr>
          <a:xfrm flipH="false" flipV="false" rot="0">
            <a:off x="4750668" y="1611957"/>
            <a:ext cx="2395984" cy="20962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Исправленные ошибки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4750668" y="1957461"/>
            <a:ext cx="3898999" cy="492992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lstStyle>
            <a:defPPr/>
            <a:lvl1pPr algn="l" indent="0" lvl="0" mar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-342900" marL="342900">
              <a:lnSpc>
                <a:spcPct val="130000"/>
              </a:lnSpc>
              <a:buSzPct val="100000"/>
              <a:buChar char="•"/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JSON-сериализация данных</a:t>
            </a:r>
            <a:endParaRPr sz="1100"/>
          </a:p>
          <a:p>
            <a:pPr algn="l" indent="-342900" marL="342900">
              <a:lnSpc>
                <a:spcPct val="130000"/>
              </a:lnSpc>
              <a:buSzPct val="100000"/>
              <a:buChar char="•"/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Корректное отображение локального времени</a:t>
            </a:r>
            <a:endParaRPr sz="1100"/>
          </a:p>
        </p:txBody>
      </p:sp>
      <p:sp>
        <p:nvSpPr>
          <p:cNvPr hidden="false" id="181" name="Shape 181"/>
          <p:cNvSpPr txBox="false"/>
          <p:nvPr isPhoto="false"/>
        </p:nvSpPr>
        <p:spPr>
          <a:xfrm flipH="false" flipV="false" rot="0">
            <a:off x="4750668" y="2586335"/>
            <a:ext cx="2383110" cy="209624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Перспективы развития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4750668" y="2931840"/>
            <a:ext cx="3898999" cy="985985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lstStyle>
            <a:defPPr/>
            <a:lvl1pPr algn="l" indent="0" lvl="0" mar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-342900" marL="342900">
              <a:lnSpc>
                <a:spcPct val="130000"/>
              </a:lnSpc>
              <a:buSzPct val="100000"/>
              <a:buChar char="•"/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Добавление нейросети для определения причины повтора</a:t>
            </a:r>
            <a:endParaRPr sz="1100"/>
          </a:p>
          <a:p>
            <a:pPr algn="l" indent="-342900" marL="342900">
              <a:lnSpc>
                <a:spcPct val="130000"/>
              </a:lnSpc>
              <a:buSzPct val="100000"/>
              <a:buChar char="•"/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Email-уведомления</a:t>
            </a:r>
            <a:endParaRPr sz="1100"/>
          </a:p>
          <a:p>
            <a:pPr algn="l" indent="-342900" marL="342900">
              <a:lnSpc>
                <a:spcPct val="130000"/>
              </a:lnSpc>
              <a:buSzPct val="100000"/>
              <a:buChar char="•"/>
            </a:pPr>
            <a:r>
              <a:rPr sz="110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Расширенная ролевая модель</a:t>
            </a:r>
            <a:endParaRPr sz="1100"/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83" name="GroupShape 18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4" name="Shape 184"/>
          <p:cNvSpPr txBox="false"/>
          <p:nvPr isPhoto="false"/>
        </p:nvSpPr>
        <p:spPr>
          <a:xfrm flipH="false" flipV="false" rot="0">
            <a:off x="5715000" y="0"/>
            <a:ext cx="3429000" cy="5143500"/>
          </a:xfrm>
          <a:prstGeom prst="rect">
            <a:avLst/>
          </a:prstGeom>
          <a:solidFill>
            <a:srgbClr val="7E023C"/>
          </a:solidFill>
          <a:ln>
            <a:prstDash val="solid"/>
          </a:ln>
        </p:spPr>
      </p:sp>
      <p:pic>
        <p:nvPicPr>
          <p:cNvPr hidden="false" id="186" name="Picture 186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789786" y="112142"/>
            <a:ext cx="3279427" cy="4919142"/>
          </a:xfrm>
          <a:prstGeom prst="rect">
            <a:avLst/>
          </a:prstGeom>
        </p:spPr>
      </p:pic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523577" y="556096"/>
            <a:ext cx="4667845" cy="1214438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04000"/>
              </a:lnSpc>
            </a:pPr>
            <a:r>
              <a:rPr b="true" sz="380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Спасибо за внимание!</a:t>
            </a:r>
            <a:endParaRPr sz="3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523577" y="1994892"/>
            <a:ext cx="4667845" cy="478779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E5E0DF"/>
                </a:solidFill>
                <a:latin typeface="Overpass"/>
                <a:ea typeface="Overpass"/>
                <a:cs typeface="Overpass"/>
              </a:rPr>
              <a:t>Система мониторинга повторных обращений — шаг к повышению качества цифровых госуслуг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false"/>
          <p:nvPr isPhoto="false"/>
        </p:nvSpPr>
        <p:spPr>
          <a:xfrm flipH="false" flipV="false" rot="0">
            <a:off x="523577" y="2641922"/>
            <a:ext cx="4667845" cy="1945407"/>
          </a:xfrm>
          <a:prstGeom prst="roundRect">
            <a:avLst>
              <a:gd fmla="val 3230" name="adj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hidden="false" id="190" name="Shape 190"/>
          <p:cNvSpPr txBox="false"/>
          <p:nvPr isPhoto="false"/>
        </p:nvSpPr>
        <p:spPr>
          <a:xfrm flipH="false" flipV="false" rot="0">
            <a:off x="528340" y="2646685"/>
            <a:ext cx="2329160" cy="1087636"/>
          </a:xfrm>
          <a:prstGeom prst="rect">
            <a:avLst/>
          </a:prstGeom>
          <a:solidFill>
            <a:srgbClr val="2563EB"/>
          </a:solidFill>
          <a:ln>
            <a:prstDash val="solid"/>
          </a:ln>
        </p:spPr>
      </p:sp>
      <p:sp>
        <p:nvSpPr>
          <p:cNvPr hidden="false" id="191" name="Shape 191"/>
          <p:cNvSpPr txBox="false"/>
          <p:nvPr isPhoto="false"/>
        </p:nvSpPr>
        <p:spPr>
          <a:xfrm flipH="false" flipV="false" rot="0">
            <a:off x="677912" y="2796257"/>
            <a:ext cx="1918319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Луговкин Константин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677912" y="3105969"/>
            <a:ext cx="2030016" cy="23939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Группа 1ИП-17-25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2857500" y="2646685"/>
            <a:ext cx="2329160" cy="1087636"/>
          </a:xfrm>
          <a:prstGeom prst="rect">
            <a:avLst/>
          </a:prstGeom>
          <a:solidFill>
            <a:srgbClr val="2563EB"/>
          </a:solidFill>
          <a:ln>
            <a:prstDash val="solid"/>
          </a:ln>
        </p:spPr>
      </p:sp>
      <p:sp>
        <p:nvSpPr>
          <p:cNvPr hidden="false" id="194" name="Shape 194"/>
          <p:cNvSpPr txBox="false"/>
          <p:nvPr isPhoto="false"/>
        </p:nvSpPr>
        <p:spPr>
          <a:xfrm flipH="false" flipV="false" rot="0">
            <a:off x="2857500" y="2646685"/>
            <a:ext cx="19050" cy="1087636"/>
          </a:xfrm>
          <a:prstGeom prst="roundRect">
            <a:avLst>
              <a:gd fmla="val 329856" name="adj"/>
            </a:avLst>
          </a:prstGeom>
          <a:solidFill>
            <a:srgbClr val="3E7CFF"/>
          </a:solidFill>
          <a:ln>
            <a:prstDash val="solid"/>
          </a:ln>
        </p:spPr>
      </p:sp>
      <p:sp>
        <p:nvSpPr>
          <p:cNvPr hidden="false" id="195" name="Shape 195"/>
          <p:cNvSpPr txBox="false"/>
          <p:nvPr isPhoto="false"/>
        </p:nvSpPr>
        <p:spPr>
          <a:xfrm flipH="false" flipV="false" rot="0">
            <a:off x="3007072" y="2796257"/>
            <a:ext cx="1760116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Технологии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false"/>
          <p:nvPr isPhoto="false"/>
        </p:nvSpPr>
        <p:spPr>
          <a:xfrm flipH="false" flipV="false" rot="0">
            <a:off x="3007072" y="3105969"/>
            <a:ext cx="2030015" cy="47878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square">
            <a:normAutofit fontScale="100%" lnSpcReduction="0%"/>
          </a:bodyPr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Python · Flask · SQLite · Bootstrap 5 · Chart.js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7" name="Shape 197"/>
          <p:cNvSpPr txBox="false"/>
          <p:nvPr isPhoto="false"/>
        </p:nvSpPr>
        <p:spPr>
          <a:xfrm flipH="false" flipV="false" rot="0">
            <a:off x="528340" y="3734321"/>
            <a:ext cx="4658320" cy="848245"/>
          </a:xfrm>
          <a:prstGeom prst="rect">
            <a:avLst/>
          </a:prstGeom>
          <a:solidFill>
            <a:srgbClr val="2563EB"/>
          </a:solidFill>
          <a:ln>
            <a:prstDash val="solid"/>
          </a:ln>
        </p:spPr>
      </p:sp>
      <p:sp>
        <p:nvSpPr>
          <p:cNvPr hidden="false" id="198" name="Shape 198"/>
          <p:cNvSpPr txBox="false"/>
          <p:nvPr isPhoto="false"/>
        </p:nvSpPr>
        <p:spPr>
          <a:xfrm flipH="false" flipV="false" rot="0">
            <a:off x="528340" y="3734321"/>
            <a:ext cx="4658320" cy="19050"/>
          </a:xfrm>
          <a:prstGeom prst="roundRect">
            <a:avLst>
              <a:gd fmla="val 329856" name="adj"/>
            </a:avLst>
          </a:prstGeom>
          <a:solidFill>
            <a:srgbClr val="3E7CFF"/>
          </a:solidFill>
          <a:ln>
            <a:prstDash val="solid"/>
          </a:ln>
        </p:spPr>
      </p:sp>
      <p:sp>
        <p:nvSpPr>
          <p:cNvPr hidden="false" id="199" name="Shape 199"/>
          <p:cNvSpPr txBox="false"/>
          <p:nvPr isPhoto="false"/>
        </p:nvSpPr>
        <p:spPr>
          <a:xfrm flipH="false" flipV="false" rot="0">
            <a:off x="677912" y="3883893"/>
            <a:ext cx="1760115" cy="219967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04000"/>
              </a:lnSpc>
            </a:pPr>
            <a:r>
              <a:rPr b="true" sz="1350">
                <a:solidFill>
                  <a:srgbClr val="FFFFFF"/>
                </a:solidFill>
                <a:latin typeface="Overpass Bold"/>
                <a:ea typeface="Overpass Bold"/>
                <a:cs typeface="Overpass Bold"/>
              </a:rPr>
              <a:t>Статус</a:t>
            </a:r>
            <a:endParaRPr sz="13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false"/>
          <p:nvPr isPhoto="false"/>
        </p:nvSpPr>
        <p:spPr>
          <a:xfrm flipH="false" flipV="false" rot="0">
            <a:off x="677912" y="4193604"/>
            <a:ext cx="4359176" cy="239390"/>
          </a:xfrm>
          <a:prstGeom prst="rect">
            <a:avLst/>
          </a:prstGeom>
          <a:noFill/>
          <a:ln>
            <a:prstDash val="solid"/>
          </a:ln>
        </p:spPr>
        <p:txBody>
          <a:bodyPr anchor="t" bIns="0" lIns="0" rIns="0" tIns="0" wrap="none"/>
          <a:p>
            <a:pPr algn="l" indent="0" marL="0">
              <a:lnSpc>
                <a:spcPct val="133000"/>
              </a:lnSpc>
            </a:pPr>
            <a:r>
              <a:rPr sz="1150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База проекта завершена, возможно дальнейшее развитие</a:t>
            </a:r>
            <a:endParaRPr sz="11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2026-06-09T20:01:50Z</dcterms:created>
  <dcterms:modified xsi:type="dcterms:W3CDTF">2026-06-09T20:01:50Z</dcterms:modified>
</cp:coreProperties>
</file>